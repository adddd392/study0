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88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51560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第一周：图像分类算法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55648"/>
            <a:ext cx="10515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学习总结与实验汇报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515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统一训练框架 · 三模型横向对比 · Cross-Entropy vs Label Smoothing 消融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515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数据集：Mini-ImageNet-100      模型：ResNet-50 / MobileNetV3-Large / ConvNeXt-Tiny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515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dirty="0" smtClean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：2026-10-16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汇报大纲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97280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700" b="1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一、学习与调研要点</a:t>
            </a:r>
            <a:endParaRPr sz="1700" b="1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卷积变体：标准卷积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深度可分离卷积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空洞卷积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DCN，以及感受野递推公式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激活函数：ReLU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GELU /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SiLU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损失函数：Cross-Entropy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Binary-Cross-Entropy / Label Smoothing / Focal Loss</a:t>
            </a: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模型架构演进：ResNet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MobileNetV3 / ShuffleNetV2 →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ViT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Swin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ConvNeXt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700" b="1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二、动手实验</a:t>
            </a:r>
            <a:endParaRPr sz="1700" b="1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统一训练框架与实验设置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基准性能对比：精度、参数量、MACs、推理延迟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消融实验：Cross-Entropy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vs Label Smoothing（α=0.1</a:t>
            </a:r>
            <a:r>
              <a:rPr sz="1500" b="0" dirty="0" smtClean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sz="1500" b="0" dirty="0" smtClean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lang="en-US" sz="15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Bad Case 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7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r>
              <a:rPr sz="1700" b="1" dirty="0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 </a:t>
            </a:r>
            <a:r>
              <a:rPr sz="1700" b="1" dirty="0" err="1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时间分配</a:t>
            </a:r>
            <a:endParaRPr sz="1700" b="1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 smtClean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实验与学习两条线的时间投入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3657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学习与调研要点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卷积变体：参数量 / 计算量 / 内存访问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关注点：基本原理、数学计算、与其他方法的差异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27632"/>
          <a:ext cx="11201398" cy="4206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4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1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7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卷积类型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参数量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计算量 MACs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内存访问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标准卷积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重复率高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深度可分离卷积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算术强度低，会被带宽限制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空洞卷积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重复率高且地址不连续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DCN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主卷积 + offset + 插值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访问地址碎片化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conv_std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535" y="2639989"/>
            <a:ext cx="2908623" cy="499028"/>
          </a:xfrm>
          <a:prstGeom prst="rect">
            <a:avLst/>
          </a:prstGeom>
        </p:spPr>
      </p:pic>
      <p:pic>
        <p:nvPicPr>
          <p:cNvPr id="8" name="Picture 7" descr="conv_std_ma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462" y="2685005"/>
            <a:ext cx="3825101" cy="408998"/>
          </a:xfrm>
          <a:prstGeom prst="rect">
            <a:avLst/>
          </a:prstGeom>
        </p:spPr>
      </p:pic>
      <p:pic>
        <p:nvPicPr>
          <p:cNvPr id="9" name="Picture 8" descr="conv_dw_para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535" y="3537701"/>
            <a:ext cx="2908623" cy="386100"/>
          </a:xfrm>
          <a:prstGeom prst="rect">
            <a:avLst/>
          </a:prstGeom>
        </p:spPr>
      </p:pic>
      <p:pic>
        <p:nvPicPr>
          <p:cNvPr id="10" name="Picture 9" descr="conv_dw_ma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8462" y="3601940"/>
            <a:ext cx="3825101" cy="257624"/>
          </a:xfrm>
          <a:prstGeom prst="rect">
            <a:avLst/>
          </a:prstGeom>
        </p:spPr>
      </p:pic>
      <p:pic>
        <p:nvPicPr>
          <p:cNvPr id="11" name="Picture 10" descr="conv_std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535" y="4322485"/>
            <a:ext cx="2908623" cy="499028"/>
          </a:xfrm>
          <a:prstGeom prst="rect">
            <a:avLst/>
          </a:prstGeom>
        </p:spPr>
      </p:pic>
      <p:pic>
        <p:nvPicPr>
          <p:cNvPr id="12" name="Picture 11" descr="conv_std_ma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462" y="4367501"/>
            <a:ext cx="3825101" cy="408998"/>
          </a:xfrm>
          <a:prstGeom prst="rect">
            <a:avLst/>
          </a:prstGeom>
        </p:spPr>
      </p:pic>
      <p:pic>
        <p:nvPicPr>
          <p:cNvPr id="13" name="Picture 12" descr="conv_dcn_para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535" y="5306268"/>
            <a:ext cx="2908623" cy="2139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感受野递推公式与可变形卷积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感受野递推公式</a:t>
            </a:r>
          </a:p>
        </p:txBody>
      </p:sp>
      <p:pic>
        <p:nvPicPr>
          <p:cNvPr id="6" name="Picture 5" descr="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03120"/>
            <a:ext cx="5394960" cy="585802"/>
          </a:xfrm>
          <a:prstGeom prst="rect">
            <a:avLst/>
          </a:prstGeom>
        </p:spPr>
      </p:pic>
      <p:pic>
        <p:nvPicPr>
          <p:cNvPr id="7" name="Picture 6" descr="rf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71800"/>
            <a:ext cx="1828800" cy="8835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1645920"/>
            <a:ext cx="539496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DCNv1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使用一个旁路网络 offset 预测采样点的漂移。可变形采样使用双线性插值使采样点坐标可导，以便反向传播训练旁路网络。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DCNv2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modulation 为采样点按位置加权，由 offset 输出。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DCNv3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将卷积按通道分为 G 个组，每组可以确定各自的独立漂移量。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激活函数：ReLU / GELU / SiLU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数学公式 · 梯度曲线 · 计算成本 · 死亡神经元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10995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7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3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9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4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/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数学公式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梯度曲线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计算成本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死亡神经元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ReLU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 0 点跳变，负半轴为 0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GELU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平滑，在 x&lt;0 时有小的负梯度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极端负饱和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SiLU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平滑，x&lt;0 有小的负梯度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极端负饱和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re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692" y="2626266"/>
            <a:ext cx="2181497" cy="599626"/>
          </a:xfrm>
          <a:prstGeom prst="rect">
            <a:avLst/>
          </a:prstGeom>
        </p:spPr>
      </p:pic>
      <p:pic>
        <p:nvPicPr>
          <p:cNvPr id="8" name="Picture 7" descr="ge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898" y="3410712"/>
            <a:ext cx="1669084" cy="676656"/>
          </a:xfrm>
          <a:prstGeom prst="rect">
            <a:avLst/>
          </a:prstGeom>
        </p:spPr>
      </p:pic>
      <p:pic>
        <p:nvPicPr>
          <p:cNvPr id="9" name="Picture 8" descr="sil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692" y="4329354"/>
            <a:ext cx="2181497" cy="485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损失函数对比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数学公式 · 对 logit 的梯度 · 类别不平衡处理 · 适配任务 · 正则化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9283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9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3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l"/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数学公式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梯度（对 logit 求导）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类别不平衡处理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适配任务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正则化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CE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需要类权重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互斥分类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Binary-CE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需要类权重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二分类，多标签分类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Label Smoothing CE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需要类权重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互斥分类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使得预测 logit 最优解不会推向正无穷，从而稳定训练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Focal Loss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类权重，难易样本分别加权处理不平衡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互斥分类 / 二分类 / 多标签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798" y="2587752"/>
            <a:ext cx="1575973" cy="768096"/>
          </a:xfrm>
          <a:prstGeom prst="rect">
            <a:avLst/>
          </a:prstGeom>
        </p:spPr>
      </p:pic>
      <p:pic>
        <p:nvPicPr>
          <p:cNvPr id="8" name="Picture 7" descr="b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921" y="3776297"/>
            <a:ext cx="2261728" cy="219805"/>
          </a:xfrm>
          <a:prstGeom prst="rect">
            <a:avLst/>
          </a:prstGeom>
        </p:spPr>
      </p:pic>
      <p:pic>
        <p:nvPicPr>
          <p:cNvPr id="9" name="Picture 8" descr="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896" y="4416552"/>
            <a:ext cx="1667778" cy="768096"/>
          </a:xfrm>
          <a:prstGeom prst="rect">
            <a:avLst/>
          </a:prstGeom>
        </p:spPr>
      </p:pic>
      <p:pic>
        <p:nvPicPr>
          <p:cNvPr id="10" name="Picture 9" descr="fo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8921" y="5407473"/>
            <a:ext cx="2261728" cy="615053"/>
          </a:xfrm>
          <a:prstGeom prst="rect">
            <a:avLst/>
          </a:prstGeom>
        </p:spPr>
      </p:pic>
      <p:pic>
        <p:nvPicPr>
          <p:cNvPr id="11" name="Picture 10" descr="grad_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579" y="2587752"/>
            <a:ext cx="1455724" cy="768096"/>
          </a:xfrm>
          <a:prstGeom prst="rect">
            <a:avLst/>
          </a:prstGeom>
        </p:spPr>
      </p:pic>
      <p:pic>
        <p:nvPicPr>
          <p:cNvPr id="12" name="Picture 11" descr="grad_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579" y="3502152"/>
            <a:ext cx="1455724" cy="768096"/>
          </a:xfrm>
          <a:prstGeom prst="rect">
            <a:avLst/>
          </a:prstGeom>
        </p:spPr>
      </p:pic>
      <p:pic>
        <p:nvPicPr>
          <p:cNvPr id="13" name="Picture 12" descr="grad_py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3770" y="4416552"/>
            <a:ext cx="1609344" cy="768096"/>
          </a:xfrm>
          <a:prstGeom prst="rect">
            <a:avLst/>
          </a:prstGeom>
        </p:spPr>
      </p:pic>
      <p:pic>
        <p:nvPicPr>
          <p:cNvPr id="14" name="Picture 13" descr="focal_gr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9521" y="5605041"/>
            <a:ext cx="2897841" cy="2199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3657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模型架构演进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ResNet：退化问题与残差连接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106424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退化问题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是「在同样训练配置下，深层网络训练误差不如浅层网络」的现象。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成因一：由深度加深引起的层间连乘增加，导致的输入-输出雅可比条件数 κ 增大，引起的强各向异性。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成因二：非线性层的增加引起的恒等变换难以学习。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在二者共同作用下，优化轨迹在高损失平台长时间滞留，训练误差下降缓慢。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残差连接原理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y = f(x) 改为 y = f(x) + x，使得恒等映射容易学习。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f = 0 情况下有 y = x 的默认解。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梯度反向传播过程中提供越过 f 直接向 x 传播的无衰减支路。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MobileNetV3：深度分离卷积 + NAS 搜索 + SE 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轻量化架构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685800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深度可分离卷积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深度卷积 + 逐点卷积。卷积核、输出通道越大，相对标准卷积越压缩。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实际延迟不一定下降。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相比标准卷积，深度可分离卷积算术强度（flops/bytes）降低，在同样字节搬运量下，标准卷积能进行更多计算。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DW 单任务量过小，并行度低。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SE 模块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 = MLP(GAP(h, w))，将 att 按通道乘回特征层；插入在通道数多、分辨率低的特征层。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NAS 搜索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搜索维度：卷积核大小 / 主干网络输出通道数与 MLP 隐藏层通道数比 / 主干网络输出通道数 / SE 放置位置。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8404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关键公式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8404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与标准卷积的计算量比</a:t>
            </a:r>
          </a:p>
        </p:txBody>
      </p:sp>
      <p:pic>
        <p:nvPicPr>
          <p:cNvPr id="9" name="Picture 8" descr="dw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468880"/>
            <a:ext cx="2651760" cy="9674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3749039"/>
            <a:ext cx="38404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NAS 目标函数（platform-aware）</a:t>
            </a:r>
          </a:p>
        </p:txBody>
      </p:sp>
      <p:pic>
        <p:nvPicPr>
          <p:cNvPr id="11" name="Picture 10" descr="nas_ob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114800"/>
            <a:ext cx="2468880" cy="7818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ShuffleNetV2：硬件友好度设计原则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目标：提升算术强度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106424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G1 计算量一定，输入输出矩阵通道相同时内存访问代价最小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basic block 将输入通道分为两组，一组直接输出，另一组经过深度可分离卷积输出，之后洗混通道，全程保持通道总数不变。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G2 组卷积分组数增加，内存访问增加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相对于 v1，v2 去除了分组卷积。通道间交换信息由混洗承担，这个操作的 FLOPs 是 O(0)，mac 是 O(hwc)，卷积分组数为 1，mac 降低。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G3 网络越碎片化，并行度越低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碎片化 = 一个 block 内独立算子过多 + kernel 过小；降低碎片化：减少独立算子数量，增大卷积核。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G4 逐元素操作在延迟中不可忽略，但是 flops 占比很低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逐元素操作包括激活函数、归一化层、张量间对齐/广播、逐通道算子（DW、池化）。特点是 flops 小，但是需要读取整个张量，复用率低。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Vision Transformer (ViT)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Patch Embedding · Self-Attention · MAE · 与 CNN 的归纳偏置对比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676656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Patch Embedding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进行核大小为 P、步幅为 S 的卷积，输出通道为 D。将 H、W 展平，输出为 (HW, D)。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Self-Attention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将通道 D 经过线性投影得到 3D 的输出通道，按通道分组得到 Q、K、V（各 D 维），多头再分成 h 份；多头将 att 拼接回 D 维。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MAE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 patch 随机掩码，可见 token 加入位置编码送入编码器，使用轻量 Transformer 解码，计算重建损失。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</a:t>
            </a:r>
          </a:p>
        </p:txBody>
      </p:sp>
      <p:pic>
        <p:nvPicPr>
          <p:cNvPr id="8" name="Picture 7" descr="vit_cpl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965960"/>
            <a:ext cx="2377440" cy="8139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3063240"/>
            <a:ext cx="39319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注意力公式</a:t>
            </a:r>
          </a:p>
        </p:txBody>
      </p:sp>
      <p:pic>
        <p:nvPicPr>
          <p:cNvPr id="10" name="Picture 9" descr="vit_a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383280"/>
            <a:ext cx="2651760" cy="57713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526280"/>
          <a:ext cx="1097279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归纳偏置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CNN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ViT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局部性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输出依赖于邻域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保留每个 patch 的局部性，patch 间可以交互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权重共享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同一卷积核可以处理图像的所有位置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使用绝对位置编码，att 使用全局 softmax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层次化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逐层降采样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108192"/>
            <a:ext cx="109728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ViT 的可学习偏置 / 内置偏置更大，需要更大数据集。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Swin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分层滑动窗口注意力（针对密集预测）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106424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 1：Patch Partition + Linear Embedding</a:t>
            </a:r>
          </a:p>
          <a:p>
            <a:pPr lvl="1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使用更小的 patch 保持高分辨率。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 2：Patch Merging</a:t>
            </a:r>
          </a:p>
          <a:p>
            <a:pPr lvl="1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2×2 的块上对通道进行拼接，过线性层通道减半实现降采样。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 3：Window Multi-head Self-Attention</a:t>
            </a:r>
          </a:p>
          <a:p>
            <a:pPr lvl="1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窗口内 token 能直接交互，窗口间信息隔离。在 token 增多的情况下避免了计算量爆炸的情况。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 4：SW-MSA</a:t>
            </a:r>
          </a:p>
          <a:p>
            <a:pPr lvl="1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相对于 W-MSA，在 H、W 方向移动窗口大小的一半，把不全的 patch 重新组合为 patch 块进行 Self-Attention；一个不全块拼接组合中的 token 只计算自己块内的 Self-Attention，不计算拼接的块间。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ConvNeXt / ConvNeXt-V2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借鉴 Transformer 的现代化 CNN，向 Swin Transformer 对齐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106424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ConvNeXt：向 Swin Transformer 对齐的架构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5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宏观架构</a:t>
            </a:r>
          </a:p>
          <a:p>
            <a:pPr lvl="2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Patchify Stem：4×4、s = 4 的卷积。</a:t>
            </a:r>
          </a:p>
          <a:p>
            <a:pPr lvl="2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Ratio：1:1:3:1 或 3:3:9:3。</a:t>
            </a:r>
          </a:p>
          <a:p>
            <a:pPr lvl="2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独立下采样层：stage 间使用独立下采样层。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5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 内部对齐</a:t>
            </a:r>
          </a:p>
          <a:p>
            <a:pPr lvl="2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倒瓶颈 → 对齐 MLP：D → 4D → D。</a:t>
            </a:r>
          </a:p>
          <a:p>
            <a:pPr lvl="2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LayerNorm。</a:t>
            </a:r>
          </a:p>
          <a:p>
            <a:pPr lvl="2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GELU。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ConvNeXt-V2 核心改动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GRN：增强强响应的通道，削弱弱响应的通道。有残差连接能保证弱通道仍有更新。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FCMAE：模拟 MAE，使用稀疏卷积处理可见像素，计算重建损失。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3657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动手实验与结果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所有模型共用同一套训练框架与超参数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27632"/>
          <a:ext cx="111556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Mini-ImageNet-100（100 类）；训练 38,400 / 验证 9,600 / 测试 12,000 张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224 × 224 × 3；Resize → Normalize(0.5, 0.5) → ToTensor，映射到 [-1, 1]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数据增强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无（训练与验证共用同一确定性管道）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ResNet-50 / MobileNetV3-Large / ConvNeXt-Tiny，均为从零训练（无预训练权重）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 epoch，batch size 32，Adam，lr = 1e-3（固定），随机种子 seed = 0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模型选择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验证损失最小的 epoch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评测指标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Top-1 / Top-5 Accuracy；Params、MACs；CUDA / CPU 单张前向延迟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06440"/>
            <a:ext cx="1106424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延迟定义：服务端已经持有模型、并且已经把图片张量搬到 GPU 上之后，再跑一次单张（batch=1）前向要多久。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1106424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计入：一次前向的全部 kernel 执行时间（含 kernel 之间的发车空洞）。不计入：模型加载、CUDA 上下文初始化、读图与解码、预处理、CPU→GPU 拷贝、后处理。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基准性能对比表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epoch · seed=0 · 无数据增强 · 延迟口径见报告 §1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27632"/>
          <a:ext cx="1129283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6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8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82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Test Top-1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Test Top-5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Params (M)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MACs (G)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延迟 CUDA (ms)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延迟 CPU (ms)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ResNet-50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51.05%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79.44%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23.71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4.13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4.11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17.1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MobileNetV3-Large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44.13%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ConvNeXt-Tiny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45.67%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74.73%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27.89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4.46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4.33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14.4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ConvNeXt-Tiny + LS(0.1)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46.36%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74.46%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60520"/>
            <a:ext cx="1115568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ResNet-50 精度最高：Test Top-1 领先 ConvNeXt-Tiny 5.38 pt、领先 MobileNetV3-Large 6.92 pt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MobileNetV3-Large 性价比最高：参数量仅为 ResNet-50 的 1/5.5、MACs 为 1/17.7，CPU 延迟快 2.4 倍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ConvNeXt-Tiny 未兑现架构优势：参数量与算力最大，精度却最低（更依赖大规模数据与强增强）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 CUDA 延迟</a:t>
            </a:r>
            <a:r>
              <a:rPr lang="zh-CN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接近</a:t>
            </a:r>
            <a:r>
              <a:rPr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主要延迟来自于</a:t>
            </a:r>
            <a:r>
              <a:rPr lang="en-US" altLang="zh-CN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对已经在</a:t>
            </a:r>
            <a:r>
              <a:rPr lang="en-US" altLang="zh-CN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r>
              <a:rPr lang="zh-CN" altLang="en-US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上的每个算子下达计算指令的时间</a:t>
            </a:r>
            <a:r>
              <a:rPr lang="en-US" altLang="zh-CN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不能体现模型性能</a:t>
            </a:r>
            <a:r>
              <a:rPr lang="en-US" altLang="zh-CN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训练曲线：三个模型均严重过拟合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Cross-Entropy；三个模型训练集几乎完全拟合，验证集早在第 10~11 轮就不再改善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554480"/>
            <a:ext cx="3703320" cy="2777490"/>
          </a:xfrm>
          <a:prstGeom prst="rect">
            <a:avLst/>
          </a:prstGeom>
        </p:spPr>
      </p:pic>
      <p:pic>
        <p:nvPicPr>
          <p:cNvPr id="10" name="Picture 9" descr="mobilenetv3_accurac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1554480"/>
            <a:ext cx="3703320" cy="277749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1554480"/>
            <a:ext cx="3703320" cy="27774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4526280"/>
            <a:ext cx="1106424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三个模型训练 Top-1 达 89.9% ~ 97.5%，验证 Top-1 最高只有 48.07%，差距 41.8 ~ 49.5 pt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训练损失单调降到 0.08 ~ 0.32，而验证损失在第 10 ~ 11 轮触底后一路上升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ResNet-50 验证损失 1.93 → 2.99；ConvNeXt-Tiny 2.18 → 3.88（劣化最严重，是最低点的 1.78 倍）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根因：训练集没有任何数据增强（无 RandomResizedCrop / 翻转 / Mixup）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消融实验：Cross-Entropy vs Label Smoothing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 ConvNeXt-Tiny，仅替换损失函数；30 epoch、seed=0、α=0.1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9283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8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1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Cross-Entropy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Label Smoothing (α=0.1)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Test Top-1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45.67%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46.36%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+0.69 pt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Test Top-5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74.73%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74.46%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−0.27 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最优 Val Top-1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46.14% (ep13)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48.07% (ep20)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+1.93 pt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末轮 Train Top-1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95.21%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97.52%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+2.31 pt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Train − Val 差距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49.07 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49.45 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基本不变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Val Loss 第 11 轮 → 第 30 轮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2.18 → 3.88（+78%）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2.66 → 2.88（+8%）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明显抑制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1556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注：两种损失函数的数值不可直接比较 —— Label Smoothing 的目标分布 y' 本身带非零下界，因此消融结论只能建立在准确率上。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消融实验曲线：Loss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左：Cross-Entropy    右：Label Smoothing (α=0.1)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onvnext_ce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36192"/>
            <a:ext cx="4754880" cy="3566160"/>
          </a:xfrm>
          <a:prstGeom prst="rect">
            <a:avLst/>
          </a:prstGeom>
        </p:spPr>
      </p:pic>
      <p:pic>
        <p:nvPicPr>
          <p:cNvPr id="7" name="Picture 6" descr="convnext_ls_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1536192"/>
            <a:ext cx="475488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49240"/>
            <a:ext cx="1106424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Cross-Entropy 的验证损失从谷底 2.1845 一路涨到 3.881（+78%），第 15 轮后与训练损失迅速背离；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Label Smoothing 的验证损失从 2.6590 只涨到 2.880（+8%），全程平稳，训练后期的劣化被明显抑制。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消融实验曲线：Accuracy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左：Cross-Entropy    右：Label Smoothing (α=0.1)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onvnext_ce_accurac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36192"/>
            <a:ext cx="4754880" cy="3566160"/>
          </a:xfrm>
          <a:prstGeom prst="rect">
            <a:avLst/>
          </a:prstGeom>
        </p:spPr>
      </p:pic>
      <p:pic>
        <p:nvPicPr>
          <p:cNvPr id="7" name="Picture 6" descr="convnext_ls_accurac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1536192"/>
            <a:ext cx="475488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4924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4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CE：验证准确率第 13 轮见顶 46.14%，之后掉头下滑到 45.20%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4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LS：验证准确率一路爬到第 20 轮 48.07%，并在 47% 附近稳住不再下滑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结论：Label Smoothing 有小幅正收益（Test Top-1 +0.69 pt、最优 Val Top-1 +1.93 pt），且末轮 Train Top-1 反而更高（97.52% vs 95.21%），Train − Val 差距并未缩小（49.07 → 49.45 pt）。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Bad Case 分析：小目标被背景主导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样本：val/n01532829/n0153282900000018.jpg（真值 n01532829，雀类）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n0153282900000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01" y="1691640"/>
            <a:ext cx="3745489" cy="280911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20640" y="1737360"/>
          <a:ext cx="649223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0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3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Top-1 预测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概率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ResNet-50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n04515003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41.38%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MobileNetV3-Large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n04515003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ConvNeXt-Tiny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n04515003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16.73%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0" y="3749039"/>
            <a:ext cx="6583680" cy="90962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400" b="1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三个模型独立地判成同一个错误类别</a:t>
            </a:r>
            <a:r>
              <a:rPr sz="14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n04515003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技术归因：鸟只占画面很小一块，</a:t>
            </a:r>
            <a:r>
              <a:rPr sz="1400" b="0" dirty="0" err="1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而背景中的</a:t>
            </a:r>
            <a:r>
              <a:rPr lang="zh-CN" altLang="en-US" sz="1400" b="0" dirty="0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木头结构</a:t>
            </a:r>
            <a:r>
              <a:rPr sz="1400" b="0" dirty="0" err="1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尺寸大</a:t>
            </a:r>
            <a:r>
              <a:rPr sz="14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、纹理显著</a:t>
            </a:r>
            <a:r>
              <a:rPr lang="en-US" sz="14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4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r>
              <a:rPr sz="14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被大背景目标主导</a:t>
            </a:r>
            <a:endParaRPr sz="1400" b="0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spcAft>
                <a:spcPts val="600"/>
              </a:spcAft>
            </a:pPr>
            <a:endParaRPr sz="1400" b="0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01" y="4658665"/>
            <a:ext cx="2632969" cy="197472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063" y="4658665"/>
            <a:ext cx="2685098" cy="2007550"/>
          </a:xfrm>
          <a:prstGeom prst="rect">
            <a:avLst/>
          </a:prstGeom>
        </p:spPr>
      </p:pic>
      <p:sp>
        <p:nvSpPr>
          <p:cNvPr id="11" name="TextBox 7"/>
          <p:cNvSpPr txBox="1"/>
          <p:nvPr/>
        </p:nvSpPr>
        <p:spPr>
          <a:xfrm>
            <a:off x="6361368" y="5091047"/>
            <a:ext cx="5108582" cy="90962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lang="en-US" sz="1400" b="1" dirty="0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1400" b="1" dirty="0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04515003</a:t>
            </a:r>
            <a:r>
              <a:rPr lang="zh-CN" altLang="en-US" sz="1400" b="1" dirty="0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样例：类别是钢琴</a:t>
            </a:r>
            <a:endParaRPr sz="1400" b="1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spcAft>
                <a:spcPts val="600"/>
              </a:spcAft>
            </a:pPr>
            <a:endParaRPr sz="1400" b="0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实验与学习两条线的时间投入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6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3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</a:t>
                      </a:r>
                    </a:p>
                  </a:txBody>
                  <a:tcPr marL="109728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学习与调研</a:t>
                      </a:r>
                    </a:p>
                  </a:txBody>
                  <a:tcPr marL="109728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10.09 – 10.12　完成主体代码</a:t>
                      </a:r>
                    </a:p>
                  </a:txBody>
                  <a:tcPr marL="109728" marR="7315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10.12 – 10.14　查找资料（主要为 CSDN 的解析）</a:t>
                      </a:r>
                    </a:p>
                  </a:txBody>
                  <a:tcPr marL="109728" marR="73152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10.13 – 10.14　修复 bug 并跑出最终的实验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10.14 – 10.16　根据资料内容总结笔记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10.16　AI debug 并补充单张推理脚本</a:t>
                      </a:r>
                    </a:p>
                  </a:txBody>
                  <a:tcPr marL="109728" marR="7315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10.15 – 10.16　用 AI 设计问题、自己回答，以完善理解</a:t>
                      </a:r>
                    </a:p>
                  </a:txBody>
                  <a:tcPr marL="109728" marR="73152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1360</Words>
  <Application>Microsoft Office PowerPoint</Application>
  <PresentationFormat>宽屏</PresentationFormat>
  <Paragraphs>304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generated using python-pptx</dc:description>
  <cp:lastModifiedBy>admin</cp:lastModifiedBy>
  <cp:revision>8</cp:revision>
  <dcterms:created xsi:type="dcterms:W3CDTF">2013-01-27T09:14:00Z</dcterms:created>
  <dcterms:modified xsi:type="dcterms:W3CDTF">2026-10-16T00:25:34Z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61848D36A2E94F71944E6AA1A27E8665_12</vt:lpwstr>
  </property>
</Properties>
</file>